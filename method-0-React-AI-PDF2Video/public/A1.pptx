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6012"/>
            <a:ext cx="1792224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MODULE: TITLE_BLOCK [V1.2]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22208" y="96012"/>
            <a:ext cx="3474720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STATUS: SYSTEM_READY | TYPE: ACADEMIC_ENGINEERING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33856" y="912114"/>
            <a:ext cx="3840480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// The Academic Operating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89632" y="2318004"/>
            <a:ext cx="7412736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000000"/>
                </a:solidFill>
              </a:rPr>
              <a:t>學術論文寫作全指南</a:t>
            </a:r>
            <a:endParaRPr lang="en-US" sz="6500" dirty="0"/>
          </a:p>
        </p:txBody>
      </p:sp>
      <p:sp>
        <p:nvSpPr>
          <p:cNvPr id="6" name="Text 4"/>
          <p:cNvSpPr/>
          <p:nvPr/>
        </p:nvSpPr>
        <p:spPr>
          <a:xfrm>
            <a:off x="2365248" y="3367278"/>
            <a:ext cx="743712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從 A 到 Z 的完美架構與 Debug 偵錯實務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242048" y="4437126"/>
            <a:ext cx="3377184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[SYSTEM INITIALIZING: A-Z FRAMEWORK...]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7408" y="4498848"/>
            <a:ext cx="2084832" cy="1625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論文寫作不是藝術，而是系統工程。掌握 A 到 Z 架構，將你的寫作流程升級為精準的「偵錯模式 (Debug Mode)」。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6624828"/>
            <a:ext cx="3389376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MODULE: TITLE_BLOCK [V1.2] | STATUS: SYSTEM_READY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39584" y="6624828"/>
            <a:ext cx="4023360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TYPE: ACADEMIC_ENGINEERING | DATE: 2024.10.26 | ENGINEER: [AI]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399520" y="6645402"/>
            <a:ext cx="694944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NotebookLM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896" y="329184"/>
            <a:ext cx="388924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THE PAIN [TRADITIONAL APPROACH]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4267200" cy="2434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100" b="1" dirty="0">
                <a:solidFill>
                  <a:srgbClr val="000000"/>
                </a:solidFill>
              </a:rPr>
              <a:t>REJECTED</a:t>
            </a:r>
            <a:endParaRPr lang="en-US" sz="9100" dirty="0"/>
          </a:p>
        </p:txBody>
      </p:sp>
      <p:sp>
        <p:nvSpPr>
          <p:cNvPr id="4" name="Text 2"/>
          <p:cNvSpPr/>
          <p:nvPr/>
        </p:nvSpPr>
        <p:spPr>
          <a:xfrm>
            <a:off x="1389888" y="1357884"/>
            <a:ext cx="10850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INTRODUCTION...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79904" y="1735074"/>
            <a:ext cx="114604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METHODOLOGY...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33216" y="1337310"/>
            <a:ext cx="7924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RESULTS..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7680" y="4409694"/>
            <a:ext cx="5132832" cy="473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000000"/>
                </a:solidFill>
              </a:rPr>
              <a:t>為什麼你的論文會被拒絕？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438912" y="4992624"/>
            <a:ext cx="5303520" cy="253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審稿委員的視角：這不是觀點差異，而是「編譯失敗」。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73952" y="322326"/>
            <a:ext cx="5413248" cy="459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THE TERMINAL DIAGNOSIS [SYSTEMATIC APPROACH]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08064" y="1097280"/>
            <a:ext cx="5108448" cy="349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DIAGNOSTIC TERMINAL v2.0 - SYSTEM STATUS: CRITICAL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1755648"/>
            <a:ext cx="2084832" cy="6103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Error 404: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Motivation Not Found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[Module A]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0" y="2784348"/>
            <a:ext cx="2340864" cy="404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Syntax Error: Graph (PG)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does not match Math (PM)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0" y="3641598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Warning: Weak SOTA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Comparison [Module R]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595104" y="4354830"/>
            <a:ext cx="95097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DATA FLOW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82912" y="4546854"/>
            <a:ext cx="950976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LOGICAL LINK 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863072" y="4402836"/>
            <a:ext cx="451104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CPU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29984" y="4752594"/>
            <a:ext cx="3657600" cy="281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SYSTEM_LOG: COMPILATION FAILED. 3 CRITICAL ERRORS DETECTED.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PLEASE REVIEN MODULES A, PH, AND R FOR DEBUGGING. [END OF LOG]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3024" y="5650992"/>
            <a:ext cx="10997184" cy="747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解決方案：套用 A-Z 架構作為你的 [Debug Mode]。如同工程師排查系統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錯誤，精準找出論文中缺失的邏輯節點。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1241024" y="6659118"/>
            <a:ext cx="853440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NotebookLM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8784" y="720090"/>
            <a:ext cx="944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0000"/>
                </a:solidFill>
              </a:rPr>
              <a:t>System Architecture: 六大核心編譯模組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87552" y="2530602"/>
            <a:ext cx="1048512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[A-F]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摘要與動機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The Hook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55392" y="2544318"/>
            <a:ext cx="1121664" cy="1666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[G-L]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簡介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Expanding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84192" y="2537460"/>
            <a:ext cx="1231392" cy="1728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[M-O]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相關研究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The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Battleground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86144" y="2537460"/>
            <a:ext cx="1109472" cy="17076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[PA-PM]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提出方法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與系統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The Core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Engine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27136" y="2544318"/>
            <a:ext cx="1072896" cy="1680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[Q-V]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模擬與實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驗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The Stress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Test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07168" y="2544318"/>
            <a:ext cx="1133856" cy="1693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[W-Z]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結論與未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來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The Output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Log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20128" y="5458968"/>
            <a:ext cx="4145280" cy="946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code comment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每一份完美的論文，都能無縫對應這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26 個邏輯字母。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53216" y="6659118"/>
            <a:ext cx="865632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NotebookLM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534924"/>
            <a:ext cx="7412736" cy="336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[Module 1] The Hook Engine: 摘要與動機 (Abstract)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80160" y="1831086"/>
            <a:ext cx="816864" cy="81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A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3133344" y="1831086"/>
            <a:ext cx="707136" cy="81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B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925568" y="1831086"/>
            <a:ext cx="694944" cy="81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C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6693408" y="1831086"/>
            <a:ext cx="719328" cy="81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D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8485632" y="1831086"/>
            <a:ext cx="670560" cy="81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E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10277856" y="1831086"/>
            <a:ext cx="585216" cy="81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F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670560" y="3188970"/>
            <a:ext cx="1804416" cy="1213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Attention Getter: 引入注意 (必須具備：有趣、重要、創新)。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7856" y="3188970"/>
            <a:ext cx="1548384" cy="1213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But (However): 界定挑戰 (明確點出目前面臨的問題)。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62272" y="3188970"/>
            <a:ext cx="1536192" cy="1213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Cure: 提出解法 (你提出的方案與運作基礎)。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3188970"/>
            <a:ext cx="1524000" cy="1213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Development: 方法設計 (設計基礎與開發邏輯)。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97952" y="3188970"/>
            <a:ext cx="1536192" cy="1213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Experiments: 實驗評估 (為了驗證所進行的實驗)。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53600" y="3188970"/>
            <a:ext cx="1926336" cy="1213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Findings: 關鍵發現 (標示出技術改進的有效性與成效)。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41120" y="5376672"/>
            <a:ext cx="2109216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Debug Mode Alert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2208" y="5932170"/>
            <a:ext cx="1037539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[Debug Focus] 你的題目是否同時具備「有趣、重要、創新」三大必備元素？挑戰與解法是否直接對應？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228832" y="6665976"/>
            <a:ext cx="865632" cy="12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NotebookLM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8928" y="288036"/>
            <a:ext cx="9534144" cy="390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[Module 2] Background Process: 簡介 (Introduction)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023616" y="795528"/>
            <a:ext cx="61447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將摘要 (A-F) 的重點進行長篇幅的詳細延伸與解釋。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72896" y="2372868"/>
            <a:ext cx="158496" cy="253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560320" y="3895344"/>
            <a:ext cx="585216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[A-F]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10912" y="1591056"/>
            <a:ext cx="63032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[G] General: 現況與背景 (例如某技術的爆發性成長大趨勢)。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10912" y="2420874"/>
            <a:ext cx="6327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[H] However: 面臨的挑戰 (B 的詳細延伸版，界定特定難題)。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10912" y="3202686"/>
            <a:ext cx="640080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[I] In Literatur: 文獻分類 (從舊到新、簡單到複雜的解法演進)。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10912" y="4210812"/>
            <a:ext cx="5693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[J] Judgement: 優缺點評論 (對文獻進行 SWOT 評論)。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10912" y="5068062"/>
            <a:ext cx="55351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[K] Keypoint: 重申亮點 (強調設計精神與 Novelty)。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10912" y="5925312"/>
            <a:ext cx="51937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[L] List: 結構安排 (交代接下來的文章組織架構)。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7680" y="5102352"/>
            <a:ext cx="191414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DA8C11"/>
                </a:solidFill>
              </a:rPr>
              <a:t>Debug Mode Alert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9872" y="5486400"/>
            <a:ext cx="2901696" cy="1001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[Debug Focus] 你的 (G) 大趨勢與 (H) 特定挑戰是否有清晰的分野? (L) 是否為讀者建立了明確的導航地圖?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241024" y="6672834"/>
            <a:ext cx="865632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NotebookLM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408" y="390906"/>
            <a:ext cx="8985504" cy="390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0000"/>
                </a:solidFill>
              </a:rPr>
              <a:t>[Module 3] The Battleground: 相關研究 (Related Work)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2621280" y="1337310"/>
            <a:ext cx="6949440" cy="973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M. Methods (技術演進與分類) : 將過去方法大分類。描述演進軌跡：舊屬性 -&gt; 新屬性；簡單 -&gt; 複雜 (例如：CNN -&gt; LSTM -&gt; Autoencoder) 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596640" y="3319272"/>
            <a:ext cx="4998720" cy="939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N. New Proposed (新方法的優勢) : 點出新趨勢與新創見。明確交代你的方法如何 「戰勝」舊有方法。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876800" y="5287518"/>
            <a:ext cx="2450592" cy="1200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O. Organize (圖表統整) : 基於優缺點評論，歸納 為結構化的比較陣列。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12224" y="3689604"/>
            <a:ext cx="213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不要只是「列舉」 論文，要「審判 (Judgement)」論文 以突顯自身優勢。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53216" y="6659118"/>
            <a:ext cx="816864" cy="13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NotebookLM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4288" y="384048"/>
            <a:ext cx="75590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[Diagnostic View] The O-Organize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20896" y="1474470"/>
            <a:ext cx="1243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特徵提取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0" y="1474470"/>
            <a:ext cx="1243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運算效率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85888" y="1474470"/>
            <a:ext cx="1511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資料需求低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00032" y="1474470"/>
            <a:ext cx="121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收斂速度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8928" y="231114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Method A - Old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28928" y="3106674"/>
            <a:ext cx="2462784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Method B - Complex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28928" y="3909060"/>
            <a:ext cx="2340864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Method C - Recent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28928" y="4725162"/>
            <a:ext cx="2414016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Proposed Scheme - 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80160" y="5801868"/>
            <a:ext cx="9741408" cy="7063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56B3"/>
                </a:solidFill>
              </a:rPr>
              <a:t>偵錯實務：審稿人最愛看這張表。用圈叉圖 (SWOT 列表) 將 (J) Judgement 視覺化，一秒證明你的方法 (N) 完勝所有 (M) 舊方法。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241024" y="6665976"/>
            <a:ext cx="853440" cy="11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NotebookLM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452628"/>
            <a:ext cx="11301984" cy="349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[Module 4] The Core Architecture: 提出方法與系統 (Proposed Scheme)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68096" y="1529334"/>
            <a:ext cx="26212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Intent (目標與背景)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096" y="2029968"/>
            <a:ext cx="27310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PA: Aim (確立目標)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PB: Background (背景基礎)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PC: Cure (解法原理)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05344" y="1529334"/>
            <a:ext cx="23164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Design (架構拆解)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05344" y="2029968"/>
            <a:ext cx="3474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PD: Design (架構設計)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PE: Paper Element (系統重要元素)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PF: Foundation (元素功能)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20512" y="3065526"/>
            <a:ext cx="938784" cy="726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Proposed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Scheme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Engine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4670298"/>
            <a:ext cx="31699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Mechanics (互動與實作)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096" y="5164074"/>
            <a:ext cx="3535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PG: Graph (架構圖)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PH: How (如何達成目標)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PI: Implementation (元素互動與流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程實作)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05344" y="4670298"/>
            <a:ext cx="2340864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Proof (驗證與貢獻)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05344" y="5164074"/>
            <a:ext cx="335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PJ: Jump to Example (具體範例)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PK: Key Points (重申貢獻)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PL: Later (後續模擬預告)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PM: Math Proof (數學證明)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11712" y="6665976"/>
            <a:ext cx="694944" cy="11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NotebookLM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376" y="212598"/>
            <a:ext cx="6071616" cy="336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[Debugger Mode] 系統架構的連貫性偵錯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73952" y="1042416"/>
            <a:ext cx="2353056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PG (Graph 架構圖)：視覺化系統元素。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09472" y="3799332"/>
            <a:ext cx="3023616" cy="541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PI (Implementation 實作)：虛擬碼與流程圖。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44256" y="3806190"/>
            <a:ext cx="28529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PM (Math 數學證明)：理論與公式支撐。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6448" y="5006340"/>
            <a:ext cx="5157216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[Scan 1] 你的圖表 (PG) 中的每一個元件，是否都在實作細節 (PI) 中有明確對應？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6448" y="5897880"/>
            <a:ext cx="5230368" cy="555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[Scan 2] 數學公式 (PM) 是否完全支撐你宣稱的解法運作邏輯？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86144" y="5184648"/>
            <a:ext cx="501091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Fatal Error: 圖表畫了一套，程式碼寫了另一套，公式完全無關。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241024" y="6659118"/>
            <a:ext cx="877824" cy="144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NotebookLM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04622"/>
            <a:ext cx="7278624" cy="294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[Module 5] The Stress Test: 模擬與實驗 (Q-V)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792224" y="1234440"/>
            <a:ext cx="280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定性指標 (Quality)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87552" y="4128516"/>
            <a:ext cx="4401312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方法在性質上的絕對優勢 (例如：收斂快速、需要的資料量較少) 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49312" y="1234440"/>
            <a:ext cx="2987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定量指標 (Quantity)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949440" y="4128516"/>
            <a:ext cx="4059936" cy="6446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數量上的具體成果 (例如：Accuracy 準確率等具體數據) 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7408" y="5465826"/>
            <a:ext cx="2682240" cy="912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 (Related): 與最先進技術 (SOTA) 進行比較。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93920" y="5465826"/>
            <a:ext cx="2791968" cy="912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S/T (Setup &amp; Tuning): 詳細交代實驗設定與參數調整。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90432" y="5465826"/>
            <a:ext cx="2804160" cy="912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U/V (Useful &amp; Verify): 展示有用結果並驗證系統有效性。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241024" y="6665976"/>
            <a:ext cx="853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NotebookLM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144" y="281178"/>
            <a:ext cx="7900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[Module 6] The Output Log: 結論與未來工作 (W-Z)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04672" y="3209544"/>
            <a:ext cx="341376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536192" y="3182112"/>
            <a:ext cx="1816608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A. Attention Getter (回到源頭動機)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413504" y="3209544"/>
            <a:ext cx="3657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157216" y="2983230"/>
            <a:ext cx="2609088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W. What Proposed: 整體回顧 (重新盤點研究情境與欲解決的問題)。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13120" y="4985766"/>
            <a:ext cx="353568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X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023104" y="5726430"/>
            <a:ext cx="22311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X. eXcel: 專精優勢 (點出演算法專精的情境與解決的核心問題)。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90560" y="4985766"/>
            <a:ext cx="3657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Y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034528" y="5726430"/>
            <a:ext cx="23652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Y. Yields: 具體產出 (簡述模擬結果中最厲害的數據與性質優勢)。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53728" y="3209544"/>
            <a:ext cx="353568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Z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924288" y="2976372"/>
            <a:ext cx="2060448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Z. Zen: 終極展望 (總結研發貢獻，並提出 Future Work 未來研究方向)。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3712" y="4752594"/>
            <a:ext cx="2036064" cy="226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Debug Mode Alert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3712" y="5232654"/>
            <a:ext cx="3035808" cy="802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[Debug Focus] 你的結論 (Z) 是否完美回應了摘要中的動機 (A) ? 這是一個閉環系統。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41024" y="6672834"/>
            <a:ext cx="841248" cy="11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NotebookLM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253746"/>
            <a:ext cx="5620512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000000"/>
                </a:solidFill>
              </a:rPr>
              <a:t>[Full System Synthesis] A-Z 偵錯清單</a:t>
            </a:r>
            <a:endParaRPr lang="en-US" sz="4700" dirty="0"/>
          </a:p>
        </p:txBody>
      </p:sp>
      <p:sp>
        <p:nvSpPr>
          <p:cNvPr id="3" name="Text 1"/>
          <p:cNvSpPr/>
          <p:nvPr/>
        </p:nvSpPr>
        <p:spPr>
          <a:xfrm>
            <a:off x="816864" y="960120"/>
            <a:ext cx="115824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[A-F] 摘要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0832" y="1447038"/>
            <a:ext cx="13655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A. Attention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0832" y="1748790"/>
            <a:ext cx="865632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B. But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0832" y="2050542"/>
            <a:ext cx="9753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C. Cure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0832" y="2352294"/>
            <a:ext cx="160934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D. Development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60832" y="2654046"/>
            <a:ext cx="1572768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E. Experiments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60832" y="2955798"/>
            <a:ext cx="12801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F. Findings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82240" y="960120"/>
            <a:ext cx="1170432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[G-L] 簡介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26208" y="1447038"/>
            <a:ext cx="1267968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G. General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26208" y="1748790"/>
            <a:ext cx="1292352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H. However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6208" y="2050542"/>
            <a:ext cx="1633728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I. In Literature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26208" y="2352294"/>
            <a:ext cx="14630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J. Judgement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426208" y="2654046"/>
            <a:ext cx="129235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K. Keypoint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26208" y="2955798"/>
            <a:ext cx="902208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L. List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03776" y="960120"/>
            <a:ext cx="169468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[M-O] 相關研究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303776" y="1447038"/>
            <a:ext cx="12801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M. Methods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303776" y="1748790"/>
            <a:ext cx="1694688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N. New Proposed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303776" y="2050542"/>
            <a:ext cx="129235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O. Organize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93536" y="960120"/>
            <a:ext cx="176784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[PA-PM] 提出方法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93536" y="1447038"/>
            <a:ext cx="92659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PA. Aim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93536" y="1748790"/>
            <a:ext cx="1621536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PB. Background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193536" y="2050542"/>
            <a:ext cx="101193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PC. Cure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93536" y="2352294"/>
            <a:ext cx="123139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PD. Design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93536" y="2654046"/>
            <a:ext cx="1328928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PE. Element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93536" y="2955798"/>
            <a:ext cx="15849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PF. Foundation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193536" y="3257550"/>
            <a:ext cx="1194816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PG. Graph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93536" y="3559302"/>
            <a:ext cx="104851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PH. How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193536" y="3861054"/>
            <a:ext cx="18288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PI. Implementation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193536" y="4162806"/>
            <a:ext cx="1341120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PJ. Example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93536" y="4464558"/>
            <a:ext cx="15240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PK. Key Points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193536" y="4766310"/>
            <a:ext cx="1133856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PL. Later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93536" y="5068062"/>
            <a:ext cx="1146048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PM. Math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241792" y="960120"/>
            <a:ext cx="1682496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[Q-V] 模擬實驗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168640" y="1447038"/>
            <a:ext cx="188976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Q. Quality/Quantity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168640" y="1748790"/>
            <a:ext cx="1182624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R. Related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168640" y="2050542"/>
            <a:ext cx="10363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S. Setup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168640" y="2352294"/>
            <a:ext cx="109728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T. Tuning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8168640" y="2654046"/>
            <a:ext cx="1085088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U. Useful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8168640" y="2955798"/>
            <a:ext cx="1072896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V. Verify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10302240" y="960120"/>
            <a:ext cx="120700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[W-Z] 結論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10204704" y="1447038"/>
            <a:ext cx="10363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W. What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0204704" y="1748790"/>
            <a:ext cx="975360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X. eXcel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10204704" y="2050542"/>
            <a:ext cx="106070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Y. Yields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10204704" y="2352294"/>
            <a:ext cx="9144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 Z. Zen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548640" y="5911596"/>
            <a:ext cx="11094720" cy="404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000000"/>
                </a:solidFill>
              </a:rPr>
              <a:t>送出論文 (Submit) 前的最後掃描：這 26 個邏輯節點是否全數亮起綠燈？</a:t>
            </a:r>
            <a:endParaRPr lang="en-US" sz="4700" dirty="0"/>
          </a:p>
        </p:txBody>
      </p:sp>
      <p:sp>
        <p:nvSpPr>
          <p:cNvPr id="48" name="Text 46"/>
          <p:cNvSpPr/>
          <p:nvPr/>
        </p:nvSpPr>
        <p:spPr>
          <a:xfrm>
            <a:off x="11228832" y="6631686"/>
            <a:ext cx="865632" cy="1577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NotebookLM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9760" y="1796796"/>
            <a:ext cx="532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&gt; Running A-Z Diagnostic Scan...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889760" y="2167128"/>
            <a:ext cx="4230624" cy="281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&gt; 0 Syntax Errors Found.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889760" y="2544318"/>
            <a:ext cx="4255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</a:rPr>
              <a:t>&gt; 0 Logic Gaps Detected.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631680" y="2894076"/>
            <a:ext cx="670560" cy="2674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100%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2752" y="4601718"/>
            <a:ext cx="10936224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0" b="1" dirty="0">
                <a:solidFill>
                  <a:srgbClr val="000000"/>
                </a:solidFill>
              </a:rPr>
              <a:t>COMPILATION SUCCESSFUL.</a:t>
            </a:r>
            <a:endParaRPr lang="en-US" sz="11500" dirty="0"/>
          </a:p>
        </p:txBody>
      </p:sp>
      <p:sp>
        <p:nvSpPr>
          <p:cNvPr id="7" name="Text 5"/>
          <p:cNvSpPr/>
          <p:nvPr/>
        </p:nvSpPr>
        <p:spPr>
          <a:xfrm>
            <a:off x="4230624" y="6391656"/>
            <a:ext cx="3718560" cy="198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你的系統已準備就緒，迎接審稿委員的挑戰。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23904" y="6672834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NotebookLM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2026-06-12T06:34:57Z</dcterms:created>
  <dcterms:modified xsi:type="dcterms:W3CDTF">2026-06-12T06:34:57Z</dcterms:modified>
</cp:coreProperties>
</file>